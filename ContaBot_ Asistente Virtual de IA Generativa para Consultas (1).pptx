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53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5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41.png"/><Relationship Id="rId4" Type="http://schemas.openxmlformats.org/officeDocument/2006/relationships/image" Target="../media/image6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38.png"/><Relationship Id="rId26" Type="http://schemas.openxmlformats.org/officeDocument/2006/relationships/image" Target="../media/image62.png"/><Relationship Id="rId3" Type="http://schemas.openxmlformats.org/officeDocument/2006/relationships/image" Target="../media/image5.png"/><Relationship Id="rId21" Type="http://schemas.openxmlformats.org/officeDocument/2006/relationships/image" Target="../media/image57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0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7.png"/><Relationship Id="rId19" Type="http://schemas.openxmlformats.org/officeDocument/2006/relationships/image" Target="../media/image55.png"/><Relationship Id="rId4" Type="http://schemas.openxmlformats.org/officeDocument/2006/relationships/image" Target="../media/image6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65.png"/><Relationship Id="rId21" Type="http://schemas.openxmlformats.org/officeDocument/2006/relationships/image" Target="../media/image82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24" Type="http://schemas.openxmlformats.org/officeDocument/2006/relationships/image" Target="../media/image85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8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26" Type="http://schemas.openxmlformats.org/officeDocument/2006/relationships/image" Target="../media/image108.png"/><Relationship Id="rId3" Type="http://schemas.openxmlformats.org/officeDocument/2006/relationships/image" Target="../media/image5.png"/><Relationship Id="rId21" Type="http://schemas.openxmlformats.org/officeDocument/2006/relationships/image" Target="../media/image10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5" Type="http://schemas.openxmlformats.org/officeDocument/2006/relationships/image" Target="../media/image10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24" Type="http://schemas.openxmlformats.org/officeDocument/2006/relationships/image" Target="../media/image106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60.png"/><Relationship Id="rId28" Type="http://schemas.openxmlformats.org/officeDocument/2006/relationships/image" Target="../media/image110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31" Type="http://schemas.openxmlformats.org/officeDocument/2006/relationships/image" Target="../media/image113.png"/><Relationship Id="rId4" Type="http://schemas.openxmlformats.org/officeDocument/2006/relationships/image" Target="../media/image6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6.png"/><Relationship Id="rId27" Type="http://schemas.openxmlformats.org/officeDocument/2006/relationships/image" Target="../media/image109.png"/><Relationship Id="rId30" Type="http://schemas.openxmlformats.org/officeDocument/2006/relationships/image" Target="../media/image1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0.png"/><Relationship Id="rId3" Type="http://schemas.openxmlformats.org/officeDocument/2006/relationships/image" Target="../media/image5.png"/><Relationship Id="rId7" Type="http://schemas.openxmlformats.org/officeDocument/2006/relationships/image" Target="../media/image116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10.png"/><Relationship Id="rId5" Type="http://schemas.openxmlformats.org/officeDocument/2006/relationships/image" Target="../media/image114.png"/><Relationship Id="rId15" Type="http://schemas.openxmlformats.org/officeDocument/2006/relationships/image" Target="../media/image122.png"/><Relationship Id="rId10" Type="http://schemas.openxmlformats.org/officeDocument/2006/relationships/image" Target="../media/image118.png"/><Relationship Id="rId4" Type="http://schemas.openxmlformats.org/officeDocument/2006/relationships/image" Target="../media/image6.png"/><Relationship Id="rId9" Type="http://schemas.openxmlformats.org/officeDocument/2006/relationships/image" Target="../media/image117.png"/><Relationship Id="rId14" Type="http://schemas.openxmlformats.org/officeDocument/2006/relationships/image" Target="../media/image1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0.png"/><Relationship Id="rId18" Type="http://schemas.openxmlformats.org/officeDocument/2006/relationships/image" Target="../media/image121.png"/><Relationship Id="rId3" Type="http://schemas.openxmlformats.org/officeDocument/2006/relationships/image" Target="../media/image5.png"/><Relationship Id="rId21" Type="http://schemas.openxmlformats.org/officeDocument/2006/relationships/image" Target="../media/image137.png"/><Relationship Id="rId7" Type="http://schemas.openxmlformats.org/officeDocument/2006/relationships/image" Target="../media/image116.png"/><Relationship Id="rId12" Type="http://schemas.openxmlformats.org/officeDocument/2006/relationships/image" Target="../media/image130.png"/><Relationship Id="rId17" Type="http://schemas.openxmlformats.org/officeDocument/2006/relationships/image" Target="../media/image13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3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29.png"/><Relationship Id="rId5" Type="http://schemas.openxmlformats.org/officeDocument/2006/relationships/image" Target="../media/image125.png"/><Relationship Id="rId15" Type="http://schemas.openxmlformats.org/officeDocument/2006/relationships/image" Target="../media/image132.png"/><Relationship Id="rId10" Type="http://schemas.openxmlformats.org/officeDocument/2006/relationships/image" Target="../media/image128.png"/><Relationship Id="rId19" Type="http://schemas.openxmlformats.org/officeDocument/2006/relationships/image" Target="../media/image135.png"/><Relationship Id="rId4" Type="http://schemas.openxmlformats.org/officeDocument/2006/relationships/image" Target="../media/image6.png"/><Relationship Id="rId9" Type="http://schemas.openxmlformats.org/officeDocument/2006/relationships/image" Target="../media/image127.png"/><Relationship Id="rId14" Type="http://schemas.openxmlformats.org/officeDocument/2006/relationships/image" Target="../media/image131.png"/><Relationship Id="rId22" Type="http://schemas.openxmlformats.org/officeDocument/2006/relationships/image" Target="../media/image1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5.png"/><Relationship Id="rId21" Type="http://schemas.openxmlformats.org/officeDocument/2006/relationships/image" Target="../media/image154.png"/><Relationship Id="rId7" Type="http://schemas.openxmlformats.org/officeDocument/2006/relationships/image" Target="../media/image141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4.png"/><Relationship Id="rId5" Type="http://schemas.openxmlformats.org/officeDocument/2006/relationships/image" Target="../media/image139.png"/><Relationship Id="rId15" Type="http://schemas.openxmlformats.org/officeDocument/2006/relationships/image" Target="../media/image148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6.png"/><Relationship Id="rId9" Type="http://schemas.openxmlformats.org/officeDocument/2006/relationships/image" Target="../media/image124.png"/><Relationship Id="rId14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19250"/>
            <a:ext cx="5486400" cy="3086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619250"/>
            <a:ext cx="5486400" cy="30861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09600" y="114300"/>
            <a:ext cx="4876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ContaBot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609600" y="914400"/>
            <a:ext cx="4876800" cy="1028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Asistente Virtual de IA Generativa para Consultas Fiscales, Contables y Tributarias</a:t>
            </a:r>
            <a:endParaRPr lang="en-US" sz="2250" dirty="0"/>
          </a:p>
        </p:txBody>
      </p:sp>
      <p:sp>
        <p:nvSpPr>
          <p:cNvPr id="8" name="Text 2"/>
          <p:cNvSpPr/>
          <p:nvPr/>
        </p:nvSpPr>
        <p:spPr>
          <a:xfrm>
            <a:off x="609600" y="2247900"/>
            <a:ext cx="5852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66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Desarrollado con Data Science y MLOps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609600" y="5943600"/>
            <a:ext cx="5852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Informe de Desarrollo: 15 de Enero de 2026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609600" y="6438900"/>
            <a:ext cx="26964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IA Generativa &amp; Análisis de Datos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9433768" y="6438900"/>
            <a:ext cx="25783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Desarrollo Funcional y Escalable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6451550" cy="2133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19500"/>
            <a:ext cx="6451550" cy="1866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2672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6482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29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3550" y="1257300"/>
            <a:ext cx="4521250" cy="4229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2150" y="19050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1688" y="200025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2150" y="25908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1688" y="26860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2150" y="32766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5500" y="3371850"/>
            <a:ext cx="190500" cy="2667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y Propósito del Proyecto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685800" y="1485900"/>
            <a:ext cx="7193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ContaBot: Asistente Virtual de IA Generativa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685800" y="1943100"/>
            <a:ext cx="5994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democratiza el acceso a información fiscal, contable y tributaria mediante el uso de </a:t>
            </a:r>
            <a:r>
              <a:rPr lang="en-US" sz="1350" b="1" dirty="0">
                <a:solidFill>
                  <a:srgbClr val="0066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Inteligencia Artificial Generativa</a:t>
            </a: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685800" y="2628900"/>
            <a:ext cx="5994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Basado en el modelo </a:t>
            </a:r>
            <a:r>
              <a:rPr lang="en-US" sz="135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Hugging Face Zephyr-7B</a:t>
            </a: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orquestado a través de </a:t>
            </a:r>
            <a:r>
              <a:rPr lang="en-US" sz="135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</a:t>
            </a: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el sistema genera respuestas adaptadas al perfil del usuario.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685800" y="3848100"/>
            <a:ext cx="7193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Enfoque Actual del Proyecto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952500" y="422910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Desarrollo funcional y escalable de IA generativa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952500" y="4610100"/>
            <a:ext cx="6195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implementación de modelos predictivos clásicos (model.pkl)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952500" y="4991100"/>
            <a:ext cx="48806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Enfoque en la calidad de las respuestas generadas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7442150" y="1485900"/>
            <a:ext cx="4876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Propósito Principal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8051750" y="1905000"/>
            <a:ext cx="3360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Acceso Democratizado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8051750" y="2133600"/>
            <a:ext cx="3360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Información fiscal accesible para todos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8051750" y="2590800"/>
            <a:ext cx="29241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8051750" y="2819400"/>
            <a:ext cx="3509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Respuestas naturales adaptadas al perfil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8051750" y="3276600"/>
            <a:ext cx="3028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Futuras Mejoras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8051750" y="3505200"/>
            <a:ext cx="36347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Líneas de evolución con Machine Learning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8820150" y="6515100"/>
            <a:ext cx="377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| Presentación Técnica de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3606701" cy="411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385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3295650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767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1338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6863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474345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2501" y="1657350"/>
            <a:ext cx="2379166" cy="1524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284" y="180975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9209" y="196215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4067" y="1657350"/>
            <a:ext cx="2379166" cy="1524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08850" y="180975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70775" y="196215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55634" y="1657350"/>
            <a:ext cx="2379166" cy="1524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0417" y="180975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30917" y="196215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52989" y="348615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3971" y="3486150"/>
            <a:ext cx="200025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92501" y="4095750"/>
            <a:ext cx="1396901" cy="876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00451" y="421005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14751" y="4267200"/>
            <a:ext cx="1524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03702" y="4095750"/>
            <a:ext cx="2908399" cy="876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67401" y="421005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48364" y="4267200"/>
            <a:ext cx="219075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6401" y="4095750"/>
            <a:ext cx="1397050" cy="876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34351" y="4210050"/>
            <a:ext cx="381000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15314" y="4267200"/>
            <a:ext cx="21907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337750" y="4095750"/>
            <a:ext cx="1396901" cy="876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45701" y="4210050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950476" y="4267200"/>
            <a:ext cx="171450" cy="2667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Arquitectura de IA Generativa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685800" y="1485900"/>
            <a:ext cx="37794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Núcleo Inteligente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685800" y="1943100"/>
            <a:ext cx="3149501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se basa en la </a:t>
            </a:r>
            <a:r>
              <a:rPr lang="en-US" sz="1350" b="1" dirty="0">
                <a:solidFill>
                  <a:srgbClr val="0066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Inteligencia Artificial Generativa</a:t>
            </a:r>
            <a:r>
              <a:rPr lang="en-US" sz="13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democratizar el acceso a información fiscal, contable y tributaria.</a:t>
            </a:r>
            <a:endParaRPr lang="en-US" sz="1350" dirty="0"/>
          </a:p>
        </p:txBody>
      </p:sp>
      <p:sp>
        <p:nvSpPr>
          <p:cNvPr id="37" name="Text 3"/>
          <p:cNvSpPr/>
          <p:nvPr/>
        </p:nvSpPr>
        <p:spPr>
          <a:xfrm>
            <a:off x="1181100" y="3238500"/>
            <a:ext cx="31850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 de Lenguaje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1181100" y="3467100"/>
            <a:ext cx="26542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Hugging Face Zephyr-7B preentrenado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1181100" y="4076700"/>
            <a:ext cx="2362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Orquestación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1181100" y="4305300"/>
            <a:ext cx="2834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 para gestionar el flujo</a:t>
            </a:r>
            <a:endParaRPr lang="en-US" sz="1200" dirty="0"/>
          </a:p>
        </p:txBody>
      </p:sp>
      <p:sp>
        <p:nvSpPr>
          <p:cNvPr id="41" name="Text 7"/>
          <p:cNvSpPr/>
          <p:nvPr/>
        </p:nvSpPr>
        <p:spPr>
          <a:xfrm>
            <a:off x="1181100" y="4686300"/>
            <a:ext cx="272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Generación de Respuestas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1181100" y="4914900"/>
            <a:ext cx="272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Adaptativas al perfil del usuario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4444901" y="2533650"/>
            <a:ext cx="20743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4237464" y="2838450"/>
            <a:ext cx="2489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Hugging Face Zephyr-7B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6976467" y="2533650"/>
            <a:ext cx="20743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46" name="Text 12"/>
          <p:cNvSpPr/>
          <p:nvPr/>
        </p:nvSpPr>
        <p:spPr>
          <a:xfrm>
            <a:off x="6769031" y="2838450"/>
            <a:ext cx="2489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Orquestación y gestión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9508034" y="2533650"/>
            <a:ext cx="20743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9300597" y="2838450"/>
            <a:ext cx="24892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Generación adaptativa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4289971" y="4667250"/>
            <a:ext cx="14019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</a:t>
            </a:r>
            <a:endParaRPr lang="en-US" sz="1050" dirty="0"/>
          </a:p>
        </p:txBody>
      </p:sp>
      <p:sp>
        <p:nvSpPr>
          <p:cNvPr id="50" name="Text 16"/>
          <p:cNvSpPr/>
          <p:nvPr/>
        </p:nvSpPr>
        <p:spPr>
          <a:xfrm>
            <a:off x="6692116" y="4667250"/>
            <a:ext cx="11315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Procesamiento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8823856" y="4667250"/>
            <a:ext cx="14021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Respuesta</a:t>
            </a:r>
            <a:endParaRPr lang="en-US" sz="1050" dirty="0"/>
          </a:p>
        </p:txBody>
      </p:sp>
      <p:sp>
        <p:nvSpPr>
          <p:cNvPr id="52" name="Text 18"/>
          <p:cNvSpPr/>
          <p:nvPr/>
        </p:nvSpPr>
        <p:spPr>
          <a:xfrm>
            <a:off x="10335220" y="4667250"/>
            <a:ext cx="14019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Adaptación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8820150" y="6515100"/>
            <a:ext cx="377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| Presentación Técnica de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3606701" cy="2362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57300"/>
            <a:ext cx="3606701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71600"/>
            <a:ext cx="219075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88595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1943100"/>
            <a:ext cx="1333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45745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25146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2501" y="1257300"/>
            <a:ext cx="3606850" cy="2362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501" y="1257300"/>
            <a:ext cx="3606850" cy="419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4901" y="137160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001" y="188595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97301" y="1943100"/>
            <a:ext cx="1524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001" y="245745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63963" y="2514600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83001" y="302895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63963" y="3086100"/>
            <a:ext cx="2190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27950" y="1257300"/>
            <a:ext cx="3606701" cy="2362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7950" y="1257300"/>
            <a:ext cx="3606701" cy="419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0350" y="1371600"/>
            <a:ext cx="238125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450" y="188595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9413" y="1943100"/>
            <a:ext cx="21907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450" y="2457450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32750" y="2514600"/>
            <a:ext cx="15240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18450" y="302895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23225" y="3086100"/>
            <a:ext cx="171450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" y="3848100"/>
            <a:ext cx="11277600" cy="15621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24000" y="4171950"/>
            <a:ext cx="914400" cy="914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 Tecnológico y Componentes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904875" y="1333500"/>
            <a:ext cx="33019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1143000" y="1866900"/>
            <a:ext cx="121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1143000" y="2095500"/>
            <a:ext cx="1463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Interfaz de usuario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1143000" y="2438400"/>
            <a:ext cx="17030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1143000" y="2667000"/>
            <a:ext cx="17030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Estilos y componentes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4711601" y="1333500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38" name="Text 7"/>
          <p:cNvSpPr/>
          <p:nvPr/>
        </p:nvSpPr>
        <p:spPr>
          <a:xfrm>
            <a:off x="4978301" y="1866900"/>
            <a:ext cx="1714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4978301" y="2095500"/>
            <a:ext cx="2057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Lenguaje de programación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4978301" y="2438400"/>
            <a:ext cx="144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Flask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4978301" y="2667000"/>
            <a:ext cx="1737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y lógica de negocio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4978301" y="3009900"/>
            <a:ext cx="14744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4978301" y="3238500"/>
            <a:ext cx="1474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Orquestación de IA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8594675" y="1333500"/>
            <a:ext cx="39622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Infraestructura</a:t>
            </a:r>
            <a:endParaRPr lang="en-US" sz="1500" dirty="0"/>
          </a:p>
        </p:txBody>
      </p:sp>
      <p:sp>
        <p:nvSpPr>
          <p:cNvPr id="45" name="Text 14"/>
          <p:cNvSpPr/>
          <p:nvPr/>
        </p:nvSpPr>
        <p:spPr>
          <a:xfrm>
            <a:off x="8813750" y="1866900"/>
            <a:ext cx="12458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8813750" y="2095500"/>
            <a:ext cx="12458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Contenerización</a:t>
            </a:r>
            <a:endParaRPr lang="en-US" sz="1050" dirty="0"/>
          </a:p>
        </p:txBody>
      </p:sp>
      <p:sp>
        <p:nvSpPr>
          <p:cNvPr id="47" name="Text 16"/>
          <p:cNvSpPr/>
          <p:nvPr/>
        </p:nvSpPr>
        <p:spPr>
          <a:xfrm>
            <a:off x="8813750" y="2438400"/>
            <a:ext cx="1074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8813750" y="2667000"/>
            <a:ext cx="1074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8813750" y="3009900"/>
            <a:ext cx="14382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Render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8813750" y="3238500"/>
            <a:ext cx="17259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Despliegue en la nube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3581400" y="4000500"/>
            <a:ext cx="8001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 de Componentes</a:t>
            </a:r>
            <a:endParaRPr lang="en-US" sz="1500" dirty="0"/>
          </a:p>
        </p:txBody>
      </p:sp>
      <p:sp>
        <p:nvSpPr>
          <p:cNvPr id="52" name="Text 21"/>
          <p:cNvSpPr/>
          <p:nvPr/>
        </p:nvSpPr>
        <p:spPr>
          <a:xfrm>
            <a:off x="3581400" y="4343400"/>
            <a:ext cx="8001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infraestructura de ContaBot se apoya en tecnologías que garantizan un rendimiento óptimo y una gestión eficiente. La contenerización mediante Docker facilita la portabilidad y el despliegue automatizado en Render, mientras que PostgreSQL alojada en Render proporciona una base de datos confiable para la persistencia de datos.</a:t>
            </a:r>
            <a:endParaRPr lang="en-US" sz="1200" dirty="0"/>
          </a:p>
        </p:txBody>
      </p:sp>
      <p:sp>
        <p:nvSpPr>
          <p:cNvPr id="53" name="Text 22"/>
          <p:cNvSpPr/>
          <p:nvPr/>
        </p:nvSpPr>
        <p:spPr>
          <a:xfrm>
            <a:off x="8820150" y="6515100"/>
            <a:ext cx="377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| Presentación Técnica de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76350"/>
            <a:ext cx="2133600" cy="2171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42875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15811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5125" y="219075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1371600"/>
            <a:ext cx="2133600" cy="1981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15240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16764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21907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1181100"/>
            <a:ext cx="2133600" cy="2362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13335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05700" y="14859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1125" y="219075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1371600"/>
            <a:ext cx="2133600" cy="1981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63200" y="152400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7988" y="1676400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343400"/>
            <a:ext cx="2059484" cy="1181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5339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69084" y="4343400"/>
            <a:ext cx="2059484" cy="1181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21484" y="4533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80967" y="4343400"/>
            <a:ext cx="2059484" cy="1181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33367" y="45339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69051" y="3924300"/>
            <a:ext cx="4565600" cy="2590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97651" y="46101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97651" y="5181600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97651" y="5524500"/>
            <a:ext cx="1905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97651" y="6096000"/>
            <a:ext cx="1905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Flujo de Datos y Persistencia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609600" y="2152650"/>
            <a:ext cx="1828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Interacción del Usuario</a:t>
            </a:r>
            <a:endParaRPr lang="en-US" sz="1350" dirty="0"/>
          </a:p>
        </p:txBody>
      </p:sp>
      <p:sp>
        <p:nvSpPr>
          <p:cNvPr id="32" name="Text 2"/>
          <p:cNvSpPr/>
          <p:nvPr/>
        </p:nvSpPr>
        <p:spPr>
          <a:xfrm>
            <a:off x="609600" y="2724150"/>
            <a:ext cx="1828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usuario introduce una consulta a través de la interfaz web</a:t>
            </a:r>
            <a:endParaRPr lang="en-US" sz="1050" dirty="0"/>
          </a:p>
        </p:txBody>
      </p:sp>
      <p:sp>
        <p:nvSpPr>
          <p:cNvPr id="33" name="Text 3"/>
          <p:cNvSpPr/>
          <p:nvPr/>
        </p:nvSpPr>
        <p:spPr>
          <a:xfrm>
            <a:off x="3657600" y="2247900"/>
            <a:ext cx="1828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Procesamiento Backend</a:t>
            </a:r>
            <a:endParaRPr lang="en-US" sz="1350" dirty="0"/>
          </a:p>
        </p:txBody>
      </p:sp>
      <p:sp>
        <p:nvSpPr>
          <p:cNvPr id="34" name="Text 4"/>
          <p:cNvSpPr/>
          <p:nvPr/>
        </p:nvSpPr>
        <p:spPr>
          <a:xfrm>
            <a:off x="3657600" y="28194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consulta es recibida por la API Flask (Backend)</a:t>
            </a:r>
            <a:endParaRPr lang="en-US" sz="1050" dirty="0"/>
          </a:p>
        </p:txBody>
      </p:sp>
      <p:sp>
        <p:nvSpPr>
          <p:cNvPr id="35" name="Text 5"/>
          <p:cNvSpPr/>
          <p:nvPr/>
        </p:nvSpPr>
        <p:spPr>
          <a:xfrm>
            <a:off x="6705600" y="2057400"/>
            <a:ext cx="1828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Generación de Respuesta</a:t>
            </a:r>
            <a:endParaRPr lang="en-US" sz="1350" dirty="0"/>
          </a:p>
        </p:txBody>
      </p:sp>
      <p:sp>
        <p:nvSpPr>
          <p:cNvPr id="36" name="Text 6"/>
          <p:cNvSpPr/>
          <p:nvPr/>
        </p:nvSpPr>
        <p:spPr>
          <a:xfrm>
            <a:off x="6705600" y="2628900"/>
            <a:ext cx="18288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utiliza LangChain PromptTemplate para interactuar con el LLM y generar una respuesta</a:t>
            </a:r>
            <a:endParaRPr lang="en-US" sz="1050" dirty="0"/>
          </a:p>
        </p:txBody>
      </p:sp>
      <p:sp>
        <p:nvSpPr>
          <p:cNvPr id="37" name="Text 7"/>
          <p:cNvSpPr/>
          <p:nvPr/>
        </p:nvSpPr>
        <p:spPr>
          <a:xfrm>
            <a:off x="9753600" y="2247900"/>
            <a:ext cx="1828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Persistencia de Datos</a:t>
            </a:r>
            <a:endParaRPr lang="en-US" sz="1350" dirty="0"/>
          </a:p>
        </p:txBody>
      </p:sp>
      <p:sp>
        <p:nvSpPr>
          <p:cNvPr id="38" name="Text 8"/>
          <p:cNvSpPr/>
          <p:nvPr/>
        </p:nvSpPr>
        <p:spPr>
          <a:xfrm>
            <a:off x="9753600" y="28194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interacción se registra en la base de datos PostgreSQL</a:t>
            </a:r>
            <a:endParaRPr lang="en-US" sz="1050" dirty="0"/>
          </a:p>
        </p:txBody>
      </p:sp>
      <p:sp>
        <p:nvSpPr>
          <p:cNvPr id="39" name="Text 9"/>
          <p:cNvSpPr/>
          <p:nvPr/>
        </p:nvSpPr>
        <p:spPr>
          <a:xfrm>
            <a:off x="457200" y="3924300"/>
            <a:ext cx="77799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 Persistidos en PostgreSQL:</a:t>
            </a:r>
            <a:endParaRPr lang="en-US" sz="1500" dirty="0"/>
          </a:p>
        </p:txBody>
      </p:sp>
      <p:sp>
        <p:nvSpPr>
          <p:cNvPr id="40" name="Text 10"/>
          <p:cNvSpPr/>
          <p:nvPr/>
        </p:nvSpPr>
        <p:spPr>
          <a:xfrm>
            <a:off x="838200" y="4495800"/>
            <a:ext cx="1794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Texto de la Pregunta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609600" y="4800600"/>
            <a:ext cx="175468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completo del texto original de la consulta del usuario</a:t>
            </a:r>
            <a:endParaRPr lang="en-US" sz="1050" dirty="0"/>
          </a:p>
        </p:txBody>
      </p:sp>
      <p:sp>
        <p:nvSpPr>
          <p:cNvPr id="42" name="Text 12"/>
          <p:cNvSpPr/>
          <p:nvPr/>
        </p:nvSpPr>
        <p:spPr>
          <a:xfrm>
            <a:off x="3050084" y="4495800"/>
            <a:ext cx="1805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Respuesta Generada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2821484" y="4800600"/>
            <a:ext cx="175468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Salida textual de la respuesta proporcionada por el modelo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5261967" y="4495800"/>
            <a:ext cx="1143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 y Hora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5033367" y="4800600"/>
            <a:ext cx="175468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del momento exacto de la interacción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7397651" y="4152900"/>
            <a:ext cx="4930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del Historial de Interacciones</a:t>
            </a:r>
            <a:endParaRPr lang="en-US" sz="1500" dirty="0"/>
          </a:p>
        </p:txBody>
      </p:sp>
      <p:sp>
        <p:nvSpPr>
          <p:cNvPr id="47" name="Text 17"/>
          <p:cNvSpPr/>
          <p:nvPr/>
        </p:nvSpPr>
        <p:spPr>
          <a:xfrm>
            <a:off x="7664351" y="4572000"/>
            <a:ext cx="3841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Histórico de consultas para análisis de comportamiento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7626251" y="5143500"/>
            <a:ext cx="39547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valiosa para futuras mejoras del sistema</a:t>
            </a: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7702451" y="5486400"/>
            <a:ext cx="3803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personalización de respuestas según el perfil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7702451" y="6057900"/>
            <a:ext cx="40805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Activo de datos para optimización del asistente</a:t>
            </a:r>
            <a:endParaRPr lang="en-US" sz="1200" dirty="0"/>
          </a:p>
        </p:txBody>
      </p:sp>
      <p:sp>
        <p:nvSpPr>
          <p:cNvPr id="51" name="Text 21"/>
          <p:cNvSpPr/>
          <p:nvPr/>
        </p:nvSpPr>
        <p:spPr>
          <a:xfrm>
            <a:off x="8820150" y="6629400"/>
            <a:ext cx="377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| Presentación Técnica de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14500"/>
            <a:ext cx="6483251" cy="1943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943100"/>
            <a:ext cx="1356420" cy="1485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5410" y="20955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947" y="21907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2220" y="253365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2245" y="2038350"/>
            <a:ext cx="1356420" cy="1295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1854" y="21907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9017" y="2286000"/>
            <a:ext cx="1428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8664" y="253365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8689" y="2038350"/>
            <a:ext cx="1356420" cy="1295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8299" y="219075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7836" y="228600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5109" y="253365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55134" y="2038350"/>
            <a:ext cx="1356420" cy="1295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04743" y="219075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38093" y="22860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3886200"/>
            <a:ext cx="6483251" cy="1905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44958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0575" y="4552950"/>
            <a:ext cx="17145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51054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100" y="5162550"/>
            <a:ext cx="1524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69051" y="1257300"/>
            <a:ext cx="4565600" cy="4533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97651" y="1943100"/>
            <a:ext cx="4572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40526" y="2038350"/>
            <a:ext cx="171450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97651" y="2667000"/>
            <a:ext cx="45720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31001" y="2762250"/>
            <a:ext cx="19050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97651" y="3390900"/>
            <a:ext cx="457200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31001" y="3486150"/>
            <a:ext cx="190500" cy="266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97651" y="4114800"/>
            <a:ext cx="457200" cy="457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40526" y="4210050"/>
            <a:ext cx="171450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97651" y="4838700"/>
            <a:ext cx="4108400" cy="685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550051" y="5019675"/>
            <a:ext cx="133350" cy="13335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Despliegue y Operacionalización MLOps</a:t>
            </a:r>
            <a:endParaRPr lang="en-US" sz="2700" dirty="0"/>
          </a:p>
        </p:txBody>
      </p:sp>
      <p:sp>
        <p:nvSpPr>
          <p:cNvPr id="37" name="Text 1"/>
          <p:cNvSpPr/>
          <p:nvPr/>
        </p:nvSpPr>
        <p:spPr>
          <a:xfrm>
            <a:off x="457200" y="1257300"/>
            <a:ext cx="77799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Flujo de Despliegue Automatizado</a:t>
            </a:r>
            <a:endParaRPr lang="en-US" sz="1800" dirty="0"/>
          </a:p>
        </p:txBody>
      </p:sp>
      <p:sp>
        <p:nvSpPr>
          <p:cNvPr id="38" name="Text 2"/>
          <p:cNvSpPr/>
          <p:nvPr/>
        </p:nvSpPr>
        <p:spPr>
          <a:xfrm>
            <a:off x="733038" y="2667000"/>
            <a:ext cx="12619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39" name="Text 3"/>
          <p:cNvSpPr/>
          <p:nvPr/>
        </p:nvSpPr>
        <p:spPr>
          <a:xfrm>
            <a:off x="838200" y="2895600"/>
            <a:ext cx="10516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Cambios en el código fuente</a:t>
            </a:r>
            <a:endParaRPr lang="en-US" sz="1050" dirty="0"/>
          </a:p>
        </p:txBody>
      </p:sp>
      <p:sp>
        <p:nvSpPr>
          <p:cNvPr id="40" name="Text 4"/>
          <p:cNvSpPr/>
          <p:nvPr/>
        </p:nvSpPr>
        <p:spPr>
          <a:xfrm>
            <a:off x="2289483" y="2762250"/>
            <a:ext cx="12619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41" name="Text 5"/>
          <p:cNvSpPr/>
          <p:nvPr/>
        </p:nvSpPr>
        <p:spPr>
          <a:xfrm>
            <a:off x="2289483" y="2990850"/>
            <a:ext cx="12619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Imagen Docker</a:t>
            </a:r>
            <a:endParaRPr lang="en-US" sz="1050" dirty="0"/>
          </a:p>
        </p:txBody>
      </p:sp>
      <p:sp>
        <p:nvSpPr>
          <p:cNvPr id="42" name="Text 6"/>
          <p:cNvSpPr/>
          <p:nvPr/>
        </p:nvSpPr>
        <p:spPr>
          <a:xfrm>
            <a:off x="3845927" y="2762250"/>
            <a:ext cx="12619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Distribución</a:t>
            </a:r>
            <a:endParaRPr lang="en-US" sz="1200" dirty="0"/>
          </a:p>
        </p:txBody>
      </p:sp>
      <p:sp>
        <p:nvSpPr>
          <p:cNvPr id="43" name="Text 7"/>
          <p:cNvSpPr/>
          <p:nvPr/>
        </p:nvSpPr>
        <p:spPr>
          <a:xfrm>
            <a:off x="3845927" y="2990850"/>
            <a:ext cx="126194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 Hub</a:t>
            </a:r>
            <a:endParaRPr lang="en-US" sz="1050" dirty="0"/>
          </a:p>
        </p:txBody>
      </p:sp>
      <p:sp>
        <p:nvSpPr>
          <p:cNvPr id="44" name="Text 8"/>
          <p:cNvSpPr/>
          <p:nvPr/>
        </p:nvSpPr>
        <p:spPr>
          <a:xfrm>
            <a:off x="5402372" y="2762250"/>
            <a:ext cx="12619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45" name="Text 9"/>
          <p:cNvSpPr/>
          <p:nvPr/>
        </p:nvSpPr>
        <p:spPr>
          <a:xfrm>
            <a:off x="5507534" y="2990850"/>
            <a:ext cx="1051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Render</a:t>
            </a:r>
            <a:endParaRPr lang="en-US" sz="1050" dirty="0"/>
          </a:p>
        </p:txBody>
      </p:sp>
      <p:sp>
        <p:nvSpPr>
          <p:cNvPr id="46" name="Text 10"/>
          <p:cNvSpPr/>
          <p:nvPr/>
        </p:nvSpPr>
        <p:spPr>
          <a:xfrm>
            <a:off x="685800" y="4114800"/>
            <a:ext cx="72312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Segura de Variables de Entorno</a:t>
            </a:r>
            <a:endParaRPr lang="en-US" sz="1500" dirty="0"/>
          </a:p>
        </p:txBody>
      </p:sp>
      <p:sp>
        <p:nvSpPr>
          <p:cNvPr id="47" name="Text 11"/>
          <p:cNvSpPr/>
          <p:nvPr/>
        </p:nvSpPr>
        <p:spPr>
          <a:xfrm>
            <a:off x="1219200" y="4495800"/>
            <a:ext cx="3108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HUGGINGFACEHUB_API_TOKEN</a:t>
            </a:r>
            <a:endParaRPr lang="en-US" sz="1350" dirty="0"/>
          </a:p>
        </p:txBody>
      </p:sp>
      <p:sp>
        <p:nvSpPr>
          <p:cNvPr id="48" name="Text 12"/>
          <p:cNvSpPr/>
          <p:nvPr/>
        </p:nvSpPr>
        <p:spPr>
          <a:xfrm>
            <a:off x="1219200" y="4762500"/>
            <a:ext cx="3108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 de acceso a Hugging Face</a:t>
            </a:r>
            <a:endParaRPr lang="en-US" sz="1050" dirty="0"/>
          </a:p>
        </p:txBody>
      </p:sp>
      <p:sp>
        <p:nvSpPr>
          <p:cNvPr id="49" name="Text 13"/>
          <p:cNvSpPr/>
          <p:nvPr/>
        </p:nvSpPr>
        <p:spPr>
          <a:xfrm>
            <a:off x="1219200" y="5105400"/>
            <a:ext cx="2606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DATABASE_URL</a:t>
            </a:r>
            <a:endParaRPr lang="en-US" sz="1350" dirty="0"/>
          </a:p>
        </p:txBody>
      </p:sp>
      <p:sp>
        <p:nvSpPr>
          <p:cNvPr id="50" name="Text 14"/>
          <p:cNvSpPr/>
          <p:nvPr/>
        </p:nvSpPr>
        <p:spPr>
          <a:xfrm>
            <a:off x="1219200" y="5372100"/>
            <a:ext cx="2606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Cadena de conexión a PostgreSQL</a:t>
            </a:r>
            <a:endParaRPr lang="en-US" sz="1050" dirty="0"/>
          </a:p>
        </p:txBody>
      </p:sp>
      <p:sp>
        <p:nvSpPr>
          <p:cNvPr id="51" name="Text 15"/>
          <p:cNvSpPr/>
          <p:nvPr/>
        </p:nvSpPr>
        <p:spPr>
          <a:xfrm>
            <a:off x="7397651" y="1485900"/>
            <a:ext cx="4930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Beneficios del Enfoque en la Nube</a:t>
            </a:r>
            <a:endParaRPr lang="en-US" sz="1800" dirty="0"/>
          </a:p>
        </p:txBody>
      </p:sp>
      <p:sp>
        <p:nvSpPr>
          <p:cNvPr id="52" name="Text 16"/>
          <p:cNvSpPr/>
          <p:nvPr/>
        </p:nvSpPr>
        <p:spPr>
          <a:xfrm>
            <a:off x="8007251" y="1943100"/>
            <a:ext cx="2686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Escalabilidad</a:t>
            </a:r>
            <a:endParaRPr lang="en-US" sz="1350" dirty="0"/>
          </a:p>
        </p:txBody>
      </p:sp>
      <p:sp>
        <p:nvSpPr>
          <p:cNvPr id="53" name="Text 17"/>
          <p:cNvSpPr/>
          <p:nvPr/>
        </p:nvSpPr>
        <p:spPr>
          <a:xfrm>
            <a:off x="8007251" y="2209800"/>
            <a:ext cx="3223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Adaptación automática a la demanda</a:t>
            </a:r>
            <a:endParaRPr lang="en-US" sz="1200" dirty="0"/>
          </a:p>
        </p:txBody>
      </p:sp>
      <p:sp>
        <p:nvSpPr>
          <p:cNvPr id="54" name="Text 18"/>
          <p:cNvSpPr/>
          <p:nvPr/>
        </p:nvSpPr>
        <p:spPr>
          <a:xfrm>
            <a:off x="8007251" y="266700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Disponibilidad</a:t>
            </a:r>
            <a:endParaRPr lang="en-US" sz="1350" dirty="0"/>
          </a:p>
        </p:txBody>
      </p:sp>
      <p:sp>
        <p:nvSpPr>
          <p:cNvPr id="55" name="Text 19"/>
          <p:cNvSpPr/>
          <p:nvPr/>
        </p:nvSpPr>
        <p:spPr>
          <a:xfrm>
            <a:off x="8007251" y="2933700"/>
            <a:ext cx="297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Garantía de uptime y accesibilidad</a:t>
            </a:r>
            <a:endParaRPr lang="en-US" sz="1200" dirty="0"/>
          </a:p>
        </p:txBody>
      </p:sp>
      <p:sp>
        <p:nvSpPr>
          <p:cNvPr id="56" name="Text 20"/>
          <p:cNvSpPr/>
          <p:nvPr/>
        </p:nvSpPr>
        <p:spPr>
          <a:xfrm>
            <a:off x="8007251" y="3390900"/>
            <a:ext cx="32346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Simplificación de Infraestructura</a:t>
            </a:r>
            <a:endParaRPr lang="en-US" sz="1350" dirty="0"/>
          </a:p>
        </p:txBody>
      </p:sp>
      <p:sp>
        <p:nvSpPr>
          <p:cNvPr id="57" name="Text 21"/>
          <p:cNvSpPr/>
          <p:nvPr/>
        </p:nvSpPr>
        <p:spPr>
          <a:xfrm>
            <a:off x="8007251" y="3657600"/>
            <a:ext cx="3234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centralizada y automatizada</a:t>
            </a:r>
            <a:endParaRPr lang="en-US" sz="1200" dirty="0"/>
          </a:p>
        </p:txBody>
      </p:sp>
      <p:sp>
        <p:nvSpPr>
          <p:cNvPr id="58" name="Text 22"/>
          <p:cNvSpPr/>
          <p:nvPr/>
        </p:nvSpPr>
        <p:spPr>
          <a:xfrm>
            <a:off x="8007251" y="4114800"/>
            <a:ext cx="2505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59" name="Text 23"/>
          <p:cNvSpPr/>
          <p:nvPr/>
        </p:nvSpPr>
        <p:spPr>
          <a:xfrm>
            <a:off x="8007251" y="4381500"/>
            <a:ext cx="30060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Protección de credenciales y datos</a:t>
            </a:r>
            <a:endParaRPr lang="en-US" sz="1200" dirty="0"/>
          </a:p>
        </p:txBody>
      </p:sp>
      <p:sp>
        <p:nvSpPr>
          <p:cNvPr id="60" name="Text 24"/>
          <p:cNvSpPr/>
          <p:nvPr/>
        </p:nvSpPr>
        <p:spPr>
          <a:xfrm>
            <a:off x="7759601" y="4991100"/>
            <a:ext cx="3803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imagen Docker pública está disponible en </a:t>
            </a:r>
            <a:endParaRPr lang="en-US" sz="1050" dirty="0"/>
          </a:p>
        </p:txBody>
      </p:sp>
      <p:sp>
        <p:nvSpPr>
          <p:cNvPr id="61" name="Text 25"/>
          <p:cNvSpPr/>
          <p:nvPr/>
        </p:nvSpPr>
        <p:spPr>
          <a:xfrm>
            <a:off x="8820150" y="6515100"/>
            <a:ext cx="377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| Presentación Técnica de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95500"/>
            <a:ext cx="3606701" cy="2667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3241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4193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8100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43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01" y="2095500"/>
            <a:ext cx="3606850" cy="2667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1101" y="23241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4451" y="24193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101" y="38100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101" y="41148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2095500"/>
            <a:ext cx="3606701" cy="2667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550" y="23241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5613" y="2419350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550" y="38100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550" y="41148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067300"/>
            <a:ext cx="11277600" cy="876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531495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525" y="5429250"/>
            <a:ext cx="13335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9144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Mejoras Futuras: Integración de Machine Learning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457200" y="1257300"/>
            <a:ext cx="11277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histórico de interacciones almacenado en </a:t>
            </a: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</a:t>
            </a: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constituye un activo fundamental para futuras expansiones con técnicas de </a:t>
            </a:r>
            <a:r>
              <a:rPr lang="en-US" sz="1350" b="1" dirty="0">
                <a:solidFill>
                  <a:srgbClr val="0066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Clásico</a:t>
            </a: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Data Science.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1295400" y="2419350"/>
            <a:ext cx="2903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Clasificación de Consultas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685800" y="29337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clasificación de texto que etiquetan automáticamente cada consulta en categorías predefinidas.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914400" y="3771900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Clasificación automática en: contable, fiscal, tributaria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914400" y="4305300"/>
            <a:ext cx="28917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 enrutamiento de consultas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5130701" y="2419350"/>
            <a:ext cx="2903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Detección de Complejidad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4521101" y="2933700"/>
            <a:ext cx="31496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Evaluar el nivel de complejidad de cada consulta para adaptar dinámicamente el grado de detalle.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4749701" y="3771900"/>
            <a:ext cx="3474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Adaptación del detalle de las respuestas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4749701" y="4076700"/>
            <a:ext cx="33261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Experiencia personalizada según perfil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8966150" y="2419350"/>
            <a:ext cx="2297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Análisis Exploratorio</a:t>
            </a:r>
            <a:endParaRPr lang="en-US" sz="1500" dirty="0"/>
          </a:p>
        </p:txBody>
      </p:sp>
      <p:sp>
        <p:nvSpPr>
          <p:cNvPr id="34" name="Text 11"/>
          <p:cNvSpPr/>
          <p:nvPr/>
        </p:nvSpPr>
        <p:spPr>
          <a:xfrm>
            <a:off x="8356550" y="2933700"/>
            <a:ext cx="31495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Técnicas de EDA y estadísticas para optimizar el rendimiento del asistente basado en patrones de uso.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8585150" y="3771900"/>
            <a:ext cx="297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Identificación de dudas frecuentes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8585150" y="4076700"/>
            <a:ext cx="2434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Mejora continua del servicio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1181100" y="5257800"/>
            <a:ext cx="922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Activo de Datos Valioso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1181100" y="5524500"/>
            <a:ext cx="11064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historial de interacciones en PostgreSQL proporciona insights para la toma de decisiones estratégicas y la mejora del servicio.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8820150" y="6515100"/>
            <a:ext cx="377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| Presentación Técnica de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3555950" cy="3790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62100"/>
            <a:ext cx="422225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588" y="16573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352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886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91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762500"/>
            <a:ext cx="3098750" cy="571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762500"/>
            <a:ext cx="929580" cy="571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950" y="1257300"/>
            <a:ext cx="3555950" cy="37909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6550" y="1562100"/>
            <a:ext cx="400645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51623" y="16573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550" y="3352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550" y="3657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550" y="39624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6550" y="4533900"/>
            <a:ext cx="3098750" cy="571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550" y="4533900"/>
            <a:ext cx="774650" cy="571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8701" y="1257300"/>
            <a:ext cx="3556099" cy="37909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07301" y="14859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26363" y="1581150"/>
            <a:ext cx="2190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1" y="32004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1" y="35052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1" y="38100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7301" y="4381500"/>
            <a:ext cx="3098899" cy="571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07301" y="4381500"/>
            <a:ext cx="1239441" cy="571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5353050"/>
            <a:ext cx="11277600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5600700"/>
            <a:ext cx="142875" cy="2667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Líneas de Evolución en Data Science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1260425" y="1485900"/>
            <a:ext cx="252412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Clasificación Automática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685800" y="2247900"/>
            <a:ext cx="30987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Implementación de modelos de clasificación de texto para etiquetar automáticamente cada consulta de usuario en categorías predefinidas.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914400" y="3314700"/>
            <a:ext cx="2870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Clasificación en "contable", "fiscal" o "tributaria"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914400" y="3848100"/>
            <a:ext cx="28917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 enrutamiento de consultas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914400" y="4152900"/>
            <a:ext cx="2640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Personalización de respuestas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685800" y="4533900"/>
            <a:ext cx="3718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Nivel de implementación</a:t>
            </a:r>
            <a:endParaRPr lang="en-US" sz="1050" dirty="0"/>
          </a:p>
        </p:txBody>
      </p:sp>
      <p:sp>
        <p:nvSpPr>
          <p:cNvPr id="37" name="Text 7"/>
          <p:cNvSpPr/>
          <p:nvPr/>
        </p:nvSpPr>
        <p:spPr>
          <a:xfrm>
            <a:off x="5099596" y="1485900"/>
            <a:ext cx="254570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Detección de Complejidad</a:t>
            </a:r>
            <a:endParaRPr lang="en-US" sz="1800" dirty="0"/>
          </a:p>
        </p:txBody>
      </p:sp>
      <p:sp>
        <p:nvSpPr>
          <p:cNvPr id="38" name="Text 8"/>
          <p:cNvSpPr/>
          <p:nvPr/>
        </p:nvSpPr>
        <p:spPr>
          <a:xfrm>
            <a:off x="4546550" y="2247900"/>
            <a:ext cx="309875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Desarrollo de un modelo de ML para evaluar el nivel de complejidad de cada consulta y adaptar dinámicamente la respuesta.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4775150" y="3314700"/>
            <a:ext cx="2743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Adaptación del grado de detalle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4775150" y="3619500"/>
            <a:ext cx="3097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Profundidad de respuesta ajustable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4775150" y="3924300"/>
            <a:ext cx="22631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Experiencia personalizada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4546550" y="4305300"/>
            <a:ext cx="3718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Nivel de implementación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9016901" y="1562100"/>
            <a:ext cx="2743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Análisis Exploratorio</a:t>
            </a:r>
            <a:endParaRPr lang="en-US" sz="1800" dirty="0"/>
          </a:p>
        </p:txBody>
      </p:sp>
      <p:sp>
        <p:nvSpPr>
          <p:cNvPr id="44" name="Text 14"/>
          <p:cNvSpPr/>
          <p:nvPr/>
        </p:nvSpPr>
        <p:spPr>
          <a:xfrm>
            <a:off x="8407301" y="2095500"/>
            <a:ext cx="3098899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Aplicación de técnicas de EDA y estadísticas sobre el histórico de preguntas y respuestas para optimización del servicio.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8635901" y="3162300"/>
            <a:ext cx="2880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Identificación de patrones de uso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8635901" y="3467100"/>
            <a:ext cx="2686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Detección de dudas frecuentes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8635901" y="3771900"/>
            <a:ext cx="3120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Evaluación de calidad de respuestas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8407301" y="4152900"/>
            <a:ext cx="37186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Nivel de implementación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866775" y="5505450"/>
            <a:ext cx="107156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Nota:</a:t>
            </a: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Estas mejoras permitirían enriquecer el sistema desde un enfoque de Data Science y Machine Learning clásico, manteniendo la arquitectura actual y aprovechando los datos generados por el uso real de la aplicación.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8820150" y="6515100"/>
            <a:ext cx="3771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 | Presentación Técnica de Data Science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7300"/>
            <a:ext cx="4521101" cy="411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240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981200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819400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657600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9580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3101" y="1295400"/>
            <a:ext cx="25717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3101" y="1714500"/>
            <a:ext cx="6451699" cy="140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83101" y="3352800"/>
            <a:ext cx="2048917" cy="1790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78885" y="35052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2235" y="36004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84418" y="3352800"/>
            <a:ext cx="2048917" cy="1790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0202" y="35052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13552" y="360045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85734" y="3352800"/>
            <a:ext cx="2048917" cy="1790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81518" y="35052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14868" y="3600450"/>
            <a:ext cx="190500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Conclusiones y Roadmap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028700" y="1485900"/>
            <a:ext cx="40639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 Actual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990600" y="1952625"/>
            <a:ext cx="150876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Solución Robusta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990600" y="2171700"/>
            <a:ext cx="37591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Aplicación de IA generativa funcional y correctamente desplegada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990600" y="2790825"/>
            <a:ext cx="170307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Arquitectura Actual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990600" y="3009900"/>
            <a:ext cx="37591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Basada en LLMs y LangChain para interacción fluida y adaptativa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933450" y="3629025"/>
            <a:ext cx="1371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Activo de Datos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933450" y="3848100"/>
            <a:ext cx="381625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Valioso historial de interacciones almacenado en base de datos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990600" y="4467225"/>
            <a:ext cx="172593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para Usuarios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990600" y="4686300"/>
            <a:ext cx="37591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Respuestas naturales y adaptadas a consultas fiscales, contables y tributarias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5654576" y="1257300"/>
            <a:ext cx="774203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Hoja de Ruta hacia un Sistema Híbrido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5511701" y="1943100"/>
            <a:ext cx="5994499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evolución de ContaBot seguirá una ruta clara hacia la integración de capacidades analíticas y predictivas, enriqueciendo su arquitectura actual con técnicas de Machine Learning clásico.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5435501" y="4076700"/>
            <a:ext cx="174411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Clasificación Automática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5435501" y="4610100"/>
            <a:ext cx="174411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Etiquetado automático de consultas por categorías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7636818" y="4076700"/>
            <a:ext cx="174411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Detección de Complejidad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7636818" y="4610100"/>
            <a:ext cx="174411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Adaptación dinámica del nivel de detalle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9663723" y="4076700"/>
            <a:ext cx="2092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Análisis Exploratorio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9838134" y="4381500"/>
            <a:ext cx="174411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Optimización basada en patrones de uso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457200" y="56769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ContaBot</a:t>
            </a:r>
            <a:r>
              <a:rPr lang="en-US" sz="135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</a:t>
            </a:r>
            <a:r>
              <a:rPr lang="en-US" sz="1350" b="1" dirty="0">
                <a:solidFill>
                  <a:srgbClr val="0066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enriching with Data Science</a:t>
            </a:r>
            <a:endParaRPr lang="en-US" sz="1350" dirty="0"/>
          </a:p>
        </p:txBody>
      </p:sp>
      <p:sp>
        <p:nvSpPr>
          <p:cNvPr id="40" name="Text 19"/>
          <p:cNvSpPr/>
          <p:nvPr/>
        </p:nvSpPr>
        <p:spPr>
          <a:xfrm>
            <a:off x="11763375" y="6515100"/>
            <a:ext cx="240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9/9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1010</Words>
  <Application>Microsoft Office PowerPoint</Application>
  <PresentationFormat>Panorámica</PresentationFormat>
  <Paragraphs>180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Open Sans</vt:lpstr>
      <vt:lpstr>Roboto</vt:lpstr>
      <vt:lpstr>ui-sans-serif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Sa?l Castro Lest?n</cp:lastModifiedBy>
  <cp:revision>2</cp:revision>
  <dcterms:created xsi:type="dcterms:W3CDTF">2026-01-14T22:20:53Z</dcterms:created>
  <dcterms:modified xsi:type="dcterms:W3CDTF">2026-01-14T22:32:24Z</dcterms:modified>
</cp:coreProperties>
</file>